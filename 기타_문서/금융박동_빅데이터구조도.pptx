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JiQ0NVLDB5me7pXo0s5H3rsS+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937F4A-8116-456C-90E5-39AC1C8677D9}">
  <a:tblStyle styleId="{A8937F4A-8116-456C-90E5-39AC1C8677D9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9B95C6C-45A1-4BDD-860E-AAEBCA0F0D19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0" y="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업무 시스템 DB에 각각 어떤 것을 넣을 건지 구체화!!</a:t>
            </a:r>
            <a:endParaRPr/>
          </a:p>
        </p:txBody>
      </p:sp>
      <p:sp>
        <p:nvSpPr>
          <p:cNvPr id="96" name="Google Shape;9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e.naver.com/news/mainnews.nave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57199" y="417539"/>
          <a:ext cx="11420575" cy="6338390"/>
        </p:xfrm>
        <a:graphic>
          <a:graphicData uri="http://schemas.openxmlformats.org/drawingml/2006/table">
            <a:tbl>
              <a:tblPr firstRow="1" bandRow="1">
                <a:noFill/>
                <a:tableStyleId>{A8937F4A-8116-456C-90E5-39AC1C8677D9}</a:tableStyleId>
              </a:tblPr>
              <a:tblGrid>
                <a:gridCol w="267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</a:t>
                      </a:r>
                      <a:endParaRPr sz="16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</a:t>
                      </a:r>
                      <a:r>
                        <a:rPr lang="en-US" sz="16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 최신 기사를 elasticsearch에 업데이트</a:t>
                      </a:r>
                      <a:endParaRPr sz="1600" b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발생 위치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네이버 증권(</a:t>
                      </a:r>
                      <a:r>
                        <a:rPr lang="en-US" sz="1600" u="sng" strike="noStrike" cap="none">
                          <a:solidFill>
                            <a:schemeClr val="hlink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  <a:hlinkClick r:id="rId3"/>
                        </a:rPr>
                        <a:t>https://finance.naver.com/news/mainnews.naver/</a:t>
                      </a:r>
                      <a:r>
                        <a:rPr lang="en-US" sz="16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한국경제(https://www.hankyung.com/)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발생 데이터 종류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html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발생 주기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수집 주기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07:30 (새벽 요약)  |  11:30 (오전 흐름)  |  18:30 (초판) | 23:59 (하루 마감)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수집 규모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약 10MB 미만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타입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JSON 타입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분석 주기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수집 즉시 분석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처리 유형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배치 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구분자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Json 객체 단위</a:t>
                      </a: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1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스키마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/>
          <p:nvPr/>
        </p:nvSpPr>
        <p:spPr>
          <a:xfrm>
            <a:off x="63639" y="90524"/>
            <a:ext cx="7060367" cy="35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요구 사항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" name="Google Shape;86;p1"/>
          <p:cNvGraphicFramePr/>
          <p:nvPr/>
        </p:nvGraphicFramePr>
        <p:xfrm>
          <a:off x="3203074" y="3766091"/>
          <a:ext cx="8531750" cy="2896800"/>
        </p:xfrm>
        <a:graphic>
          <a:graphicData uri="http://schemas.openxmlformats.org/drawingml/2006/table">
            <a:tbl>
              <a:tblPr firstRow="1" bandRow="1">
                <a:noFill/>
                <a:tableStyleId>{A9B95C6C-45A1-4BDD-860E-AAEBCA0F0D19}</a:tableStyleId>
              </a:tblPr>
              <a:tblGrid>
                <a:gridCol w="14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language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E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Text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언어 (ko, en)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title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E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Text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기사 제목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content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E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Text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기사 본문 원문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url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E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URL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기사 원문 링크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published_at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E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DateTime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기사 발행일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collected_at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E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DateTime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수집 시간 (배치 확인)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457199" y="592350"/>
          <a:ext cx="11420575" cy="6185990"/>
        </p:xfrm>
        <a:graphic>
          <a:graphicData uri="http://schemas.openxmlformats.org/drawingml/2006/table">
            <a:tbl>
              <a:tblPr firstRow="1" bandRow="1">
                <a:noFill/>
                <a:tableStyleId>{A8937F4A-8116-456C-90E5-39AC1C8677D9}</a:tableStyleId>
              </a:tblPr>
              <a:tblGrid>
                <a:gridCol w="267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</a:t>
                      </a:r>
                      <a:endParaRPr sz="16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2회 최신 기사를 elasticsearch에 업데이트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발생 위치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야후(</a:t>
                      </a:r>
                      <a:r>
                        <a:rPr lang="en-US" sz="11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"https://news.search.yahoo.com/search?p={quote(keyword)}&amp;b={start}")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구글RSS("https://news.google.com/rss/search?q={query}&amp;hl=en-US&amp;gl=US&amp;ceid=US:en")</a:t>
                      </a:r>
                      <a:endParaRPr/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발생 데이터 종류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html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발생 주기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수집 주기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07:30 (미국 장 마감, 한국 장 개장 직전)  |  21:00 (미국 장 개장 직전)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수집 규모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약 10MB 미만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타입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JSON 타입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분석 주기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수집 즉시 분석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처리 유형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배치 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구분자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Json 객체 단위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1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스키마</a:t>
                      </a:r>
                      <a:endParaRPr sz="16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9550" marR="59550" marT="29775" marB="297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63639" y="90524"/>
            <a:ext cx="7060367" cy="35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요구 사항(US)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3" name="Google Shape;93;p2"/>
          <p:cNvGraphicFramePr/>
          <p:nvPr/>
        </p:nvGraphicFramePr>
        <p:xfrm>
          <a:off x="3203074" y="3888509"/>
          <a:ext cx="8591750" cy="2789350"/>
        </p:xfrm>
        <a:graphic>
          <a:graphicData uri="http://schemas.openxmlformats.org/drawingml/2006/table">
            <a:tbl>
              <a:tblPr firstRow="1" bandRow="1">
                <a:noFill/>
                <a:tableStyleId>{A9B95C6C-45A1-4BDD-860E-AAEBCA0F0D19}</a:tableStyleId>
              </a:tblPr>
              <a:tblGrid>
                <a:gridCol w="144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language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E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Text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언어 (ko, en)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title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E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Text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기사 제목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content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E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Text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기사 본문 원문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url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E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URL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기사 원문 링크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published_at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E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DateTime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기사 발행일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collected_at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E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DateTime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수집 시간 (배치 확인)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2424830" y="794622"/>
            <a:ext cx="1683025" cy="29778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수집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1"/>
          <p:cNvSpPr/>
          <p:nvPr/>
        </p:nvSpPr>
        <p:spPr>
          <a:xfrm>
            <a:off x="2424826" y="1260119"/>
            <a:ext cx="1683026" cy="857523"/>
          </a:xfrm>
          <a:prstGeom prst="rect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1"/>
          <p:cNvSpPr/>
          <p:nvPr/>
        </p:nvSpPr>
        <p:spPr>
          <a:xfrm>
            <a:off x="4336269" y="794621"/>
            <a:ext cx="1634228" cy="302367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적재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1"/>
          <p:cNvSpPr/>
          <p:nvPr/>
        </p:nvSpPr>
        <p:spPr>
          <a:xfrm>
            <a:off x="4215247" y="1260135"/>
            <a:ext cx="1810810" cy="887747"/>
          </a:xfrm>
          <a:prstGeom prst="rect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1"/>
          <p:cNvSpPr/>
          <p:nvPr/>
        </p:nvSpPr>
        <p:spPr>
          <a:xfrm>
            <a:off x="6288048" y="794621"/>
            <a:ext cx="1683025" cy="306215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6207366" y="1260135"/>
            <a:ext cx="1763708" cy="857507"/>
          </a:xfrm>
          <a:prstGeom prst="rect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10034720" y="794621"/>
            <a:ext cx="1683025" cy="306215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1"/>
          <p:cNvSpPr/>
          <p:nvPr/>
        </p:nvSpPr>
        <p:spPr>
          <a:xfrm>
            <a:off x="10033591" y="1231646"/>
            <a:ext cx="1763708" cy="885996"/>
          </a:xfrm>
          <a:prstGeom prst="rect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/>
          <p:nvPr/>
        </p:nvSpPr>
        <p:spPr>
          <a:xfrm>
            <a:off x="6305467" y="1463450"/>
            <a:ext cx="1589967" cy="494982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504546" y="1075453"/>
            <a:ext cx="16830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Selenium</a:t>
            </a:r>
          </a:p>
        </p:txBody>
      </p:sp>
      <p:sp>
        <p:nvSpPr>
          <p:cNvPr id="108" name="Google Shape;108;p21"/>
          <p:cNvSpPr/>
          <p:nvPr/>
        </p:nvSpPr>
        <p:spPr>
          <a:xfrm>
            <a:off x="2531942" y="1463460"/>
            <a:ext cx="1394600" cy="43747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크롤링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4400281" y="1459611"/>
            <a:ext cx="1518409" cy="456888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 search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8997240" y="2920915"/>
            <a:ext cx="1447801" cy="1216200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1"/>
          <p:cNvCxnSpPr>
            <a:stCxn id="108" idx="3"/>
            <a:endCxn id="109" idx="1"/>
          </p:cNvCxnSpPr>
          <p:nvPr/>
        </p:nvCxnSpPr>
        <p:spPr>
          <a:xfrm>
            <a:off x="3926542" y="1682198"/>
            <a:ext cx="473700" cy="6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12" name="Google Shape;112;p21"/>
          <p:cNvCxnSpPr>
            <a:stCxn id="109" idx="3"/>
            <a:endCxn id="106" idx="1"/>
          </p:cNvCxnSpPr>
          <p:nvPr/>
        </p:nvCxnSpPr>
        <p:spPr>
          <a:xfrm>
            <a:off x="5918690" y="1688055"/>
            <a:ext cx="386700" cy="22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graphicFrame>
        <p:nvGraphicFramePr>
          <p:cNvPr id="113" name="Google Shape;113;p21"/>
          <p:cNvGraphicFramePr/>
          <p:nvPr/>
        </p:nvGraphicFramePr>
        <p:xfrm>
          <a:off x="515700" y="4432744"/>
          <a:ext cx="11161575" cy="2000500"/>
        </p:xfrm>
        <a:graphic>
          <a:graphicData uri="http://schemas.openxmlformats.org/drawingml/2006/table">
            <a:tbl>
              <a:tblPr firstRow="1" bandRow="1">
                <a:noFill/>
                <a:tableStyleId>{A8937F4A-8116-456C-90E5-39AC1C8677D9}</a:tableStyleId>
              </a:tblPr>
              <a:tblGrid>
                <a:gridCol w="134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수집</a:t>
                      </a:r>
                      <a:endParaRPr sz="14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크롤러(HTML)</a:t>
                      </a:r>
                      <a:endParaRPr sz="14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구글RSS</a:t>
                      </a: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</a:t>
                      </a:r>
                      <a:r>
                        <a:rPr lang="en-US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·야후</a:t>
                      </a: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·네이버 뉴스</a:t>
                      </a:r>
                      <a:r>
                        <a:rPr lang="en-US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·한국경제</a:t>
                      </a: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에서 기사 원문 및 메타데이터 수집 (중복‧오류 검증)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저장</a:t>
                      </a:r>
                      <a:endParaRPr sz="14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ElasticSearch / DB</a:t>
                      </a:r>
                      <a:endParaRPr sz="14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기사 원문 elasticsearch 저장 / 정제 후 DB에 저장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처리</a:t>
                      </a:r>
                      <a:endParaRPr sz="14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pandas</a:t>
                      </a:r>
                      <a:endParaRPr sz="14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기사 원문 정제 (결측치 처리·날짜형식 통일 등)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정제</a:t>
                      </a:r>
                      <a:endParaRPr sz="14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NER 모델</a:t>
                      </a:r>
                      <a:endParaRPr sz="14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키워드 추출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분석 및 시각화</a:t>
                      </a:r>
                      <a:endParaRPr sz="14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FISA / BERT</a:t>
                      </a:r>
                      <a:endParaRPr sz="14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ic Sans MS"/>
                        <a:buNone/>
                      </a:pPr>
                      <a:r>
                        <a:rPr lang="en-US" sz="1400" u="none" strike="noStrike" cap="none"/>
                        <a:t>감성 점수 분석 후 DB에 저장</a:t>
                      </a:r>
                      <a:endParaRPr sz="1400" u="none" strike="noStrike" cap="none"/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4" name="Google Shape;114;p21"/>
          <p:cNvSpPr/>
          <p:nvPr/>
        </p:nvSpPr>
        <p:spPr>
          <a:xfrm>
            <a:off x="63639" y="90524"/>
            <a:ext cx="2800065" cy="35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Software Architecture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10129115" y="1434886"/>
            <a:ext cx="1589967" cy="523545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FISA / BERT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1700925" y="2926187"/>
            <a:ext cx="1447800" cy="1216200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구글RSS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야후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2714649" y="115350"/>
            <a:ext cx="646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(Google news·네이버 뉴스 기반 기사 수집 및 분석 파이프라인)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21"/>
          <p:cNvCxnSpPr>
            <a:stCxn id="116" idx="1"/>
            <a:endCxn id="108" idx="2"/>
          </p:cNvCxnSpPr>
          <p:nvPr/>
        </p:nvCxnSpPr>
        <p:spPr>
          <a:xfrm rot="10800000" flipH="1">
            <a:off x="2424825" y="1900787"/>
            <a:ext cx="804300" cy="102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19" name="Google Shape;119;p21"/>
          <p:cNvCxnSpPr/>
          <p:nvPr/>
        </p:nvCxnSpPr>
        <p:spPr>
          <a:xfrm>
            <a:off x="9277026" y="1711449"/>
            <a:ext cx="506100" cy="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20" name="Google Shape;120;p21"/>
          <p:cNvSpPr/>
          <p:nvPr/>
        </p:nvSpPr>
        <p:spPr>
          <a:xfrm>
            <a:off x="3564057" y="2951830"/>
            <a:ext cx="1447800" cy="1216200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네이버 뉴스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한국경제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21" name="Google Shape;121;p21"/>
          <p:cNvCxnSpPr>
            <a:stCxn id="120" idx="1"/>
            <a:endCxn id="108" idx="2"/>
          </p:cNvCxnSpPr>
          <p:nvPr/>
        </p:nvCxnSpPr>
        <p:spPr>
          <a:xfrm rot="10800000">
            <a:off x="3229257" y="1900930"/>
            <a:ext cx="1058700" cy="1050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22" name="Google Shape;122;p21"/>
          <p:cNvSpPr/>
          <p:nvPr/>
        </p:nvSpPr>
        <p:spPr>
          <a:xfrm>
            <a:off x="8178323" y="785879"/>
            <a:ext cx="1683025" cy="306215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정제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8115386" y="1238033"/>
            <a:ext cx="1763708" cy="857507"/>
          </a:xfrm>
          <a:prstGeom prst="rect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8213487" y="1441348"/>
            <a:ext cx="1589967" cy="494982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NER 모델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1"/>
          <p:cNvCxnSpPr/>
          <p:nvPr/>
        </p:nvCxnSpPr>
        <p:spPr>
          <a:xfrm flipH="1">
            <a:off x="9721140" y="1936330"/>
            <a:ext cx="982719" cy="117872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26" name="Google Shape;126;p21"/>
          <p:cNvCxnSpPr/>
          <p:nvPr/>
        </p:nvCxnSpPr>
        <p:spPr>
          <a:xfrm>
            <a:off x="7856542" y="1717958"/>
            <a:ext cx="386777" cy="22886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27" name="Google Shape;127;p21"/>
          <p:cNvCxnSpPr/>
          <p:nvPr/>
        </p:nvCxnSpPr>
        <p:spPr>
          <a:xfrm>
            <a:off x="9781229" y="1695856"/>
            <a:ext cx="386777" cy="22886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28" name="Google Shape;128;p21"/>
          <p:cNvCxnSpPr/>
          <p:nvPr/>
        </p:nvCxnSpPr>
        <p:spPr>
          <a:xfrm>
            <a:off x="9075954" y="1876957"/>
            <a:ext cx="645186" cy="122597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4" descr="서버 무료 아이콘 의 Windows 8 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1052" y="2795732"/>
            <a:ext cx="966643" cy="96664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1411949" y="1206015"/>
            <a:ext cx="1404852" cy="914400"/>
          </a:xfrm>
          <a:prstGeom prst="clou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 데이터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299303" y="4372478"/>
            <a:ext cx="1003375" cy="811878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File System</a:t>
            </a:r>
            <a:endParaRPr sz="1800" b="1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6" name="Google Shape;136;p4" descr="File:User font awesome.svg - Wikimedia Commo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7195" y="2674707"/>
            <a:ext cx="1099646" cy="10996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4"/>
          <p:cNvCxnSpPr>
            <a:stCxn id="134" idx="1"/>
            <a:endCxn id="133" idx="0"/>
          </p:cNvCxnSpPr>
          <p:nvPr/>
        </p:nvCxnSpPr>
        <p:spPr>
          <a:xfrm>
            <a:off x="2114375" y="2119441"/>
            <a:ext cx="0" cy="676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38" name="Google Shape;138;p4"/>
          <p:cNvSpPr/>
          <p:nvPr/>
        </p:nvSpPr>
        <p:spPr>
          <a:xfrm>
            <a:off x="2006478" y="2250203"/>
            <a:ext cx="209550" cy="20955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016811" y="4364703"/>
            <a:ext cx="1010333" cy="811878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DB</a:t>
            </a:r>
            <a:endParaRPr sz="1800" b="1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>
            <a:off x="2619539" y="3721676"/>
            <a:ext cx="678874" cy="678874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41" name="Google Shape;141;p4"/>
          <p:cNvCxnSpPr/>
          <p:nvPr/>
        </p:nvCxnSpPr>
        <p:spPr>
          <a:xfrm rot="10800000">
            <a:off x="2793588" y="3580897"/>
            <a:ext cx="657049" cy="657049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42" name="Google Shape;142;p4"/>
          <p:cNvCxnSpPr/>
          <p:nvPr/>
        </p:nvCxnSpPr>
        <p:spPr>
          <a:xfrm rot="10800000" flipH="1">
            <a:off x="742950" y="3580897"/>
            <a:ext cx="752978" cy="752978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43" name="Google Shape;143;p4"/>
          <p:cNvCxnSpPr/>
          <p:nvPr/>
        </p:nvCxnSpPr>
        <p:spPr>
          <a:xfrm>
            <a:off x="2786827" y="3279053"/>
            <a:ext cx="1193924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44" name="Google Shape;144;p4"/>
          <p:cNvSpPr/>
          <p:nvPr/>
        </p:nvSpPr>
        <p:spPr>
          <a:xfrm>
            <a:off x="2786827" y="3925242"/>
            <a:ext cx="209550" cy="20955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025315" y="3774353"/>
            <a:ext cx="209550" cy="20955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174239" y="3174278"/>
            <a:ext cx="209550" cy="20955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213702" y="3803648"/>
            <a:ext cx="8066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USER</a:t>
            </a:r>
            <a:endParaRPr sz="1800" b="1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48" name="Google Shape;148;p4"/>
          <p:cNvGraphicFramePr/>
          <p:nvPr/>
        </p:nvGraphicFramePr>
        <p:xfrm>
          <a:off x="5518456" y="2670004"/>
          <a:ext cx="6180675" cy="2124930"/>
        </p:xfrm>
        <a:graphic>
          <a:graphicData uri="http://schemas.openxmlformats.org/drawingml/2006/table">
            <a:tbl>
              <a:tblPr firstRow="1" bandRow="1">
                <a:noFill/>
                <a:tableStyleId>{A8937F4A-8116-456C-90E5-39AC1C8677D9}</a:tableStyleId>
              </a:tblPr>
              <a:tblGrid>
                <a:gridCol w="65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 sz="1400" b="1" u="none" strike="noStrike" cap="non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웹크롤링을 이용해 뉴스 사이트에서 최신 뉴스 데이터 수집</a:t>
                      </a:r>
                      <a:endParaRPr sz="1400" b="0" u="none" strike="noStrike" cap="non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 sz="1400" b="1" u="none" strike="noStrike" cap="non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ic Sans MS"/>
                        <a:buNone/>
                      </a:pP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수집한 뉴스 데이터를 </a:t>
                      </a:r>
                      <a:r>
                        <a:rPr lang="en-US" sz="11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Elasticsearch</a:t>
                      </a: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에 저장 및 색인 처리</a:t>
                      </a:r>
                      <a:endParaRPr sz="1400" b="0" u="none" strike="noStrike" cap="non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ic Sans MS"/>
                        <a:buNone/>
                      </a:pPr>
                      <a:r>
                        <a:rPr lang="en-US" sz="1400" b="1" u="none" strike="noStrike" cap="none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 sz="1400" b="1" u="none" strike="noStrike" cap="non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추천 및 분석에 필요한 뉴스 데이터를 </a:t>
                      </a:r>
                      <a:r>
                        <a:rPr lang="en-US" sz="11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Elasticsearch</a:t>
                      </a: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에서 검색하여 전처리(elasticsearch+ner 모델)</a:t>
                      </a:r>
                      <a:endParaRPr sz="1400" b="0" u="none" strike="noStrike" cap="non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ic Sans MS"/>
                        <a:buNone/>
                      </a:pPr>
                      <a:r>
                        <a:rPr lang="en-US" sz="1400" b="1" u="none" strike="noStrike" cap="none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 sz="1400" b="1" u="none" strike="noStrike" cap="non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ic Sans MS"/>
                        <a:buNone/>
                      </a:pPr>
                      <a:r>
                        <a:rPr lang="en-US" sz="1400" u="none" strike="noStrike" cap="none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전처리된 뉴스 데이터를 DB에 저장</a:t>
                      </a:r>
                      <a:endParaRPr sz="1400" b="0" u="none" strike="noStrike" cap="non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ic Sans MS"/>
                        <a:buNone/>
                      </a:pPr>
                      <a:r>
                        <a:rPr lang="en-US" sz="1400" b="1" u="none" strike="noStrike" cap="none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 sz="1400" b="1" u="none" strike="noStrike" cap="non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ic Sans MS"/>
                        <a:buNone/>
                      </a:pPr>
                      <a:r>
                        <a:rPr lang="en-US" sz="1400" u="none" strike="noStrike" cap="none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DB에서 시각화를 위해 필요한 데이터 가공</a:t>
                      </a:r>
                      <a:endParaRPr sz="1400" b="0" u="none" strike="noStrike" cap="non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ic Sans MS"/>
                        <a:buNone/>
                      </a:pPr>
                      <a:r>
                        <a:rPr lang="en-US" sz="1400" b="1" u="none" strike="noStrike" cap="none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 sz="1400" b="1" u="none" strike="noStrike" cap="non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ic Sans MS"/>
                        <a:buNone/>
                      </a:pPr>
                      <a:r>
                        <a:rPr lang="en-US" sz="1400" u="none" strike="noStrike" cap="none"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사용자에게 뉴스 데이터를 시각화하여 제공</a:t>
                      </a:r>
                      <a:endParaRPr sz="1400" b="0" u="none" strike="noStrike" cap="non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49" name="Google Shape;149;p4"/>
          <p:cNvCxnSpPr/>
          <p:nvPr/>
        </p:nvCxnSpPr>
        <p:spPr>
          <a:xfrm flipH="1">
            <a:off x="914400" y="3774353"/>
            <a:ext cx="694808" cy="694808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50" name="Google Shape;150;p4"/>
          <p:cNvSpPr/>
          <p:nvPr/>
        </p:nvSpPr>
        <p:spPr>
          <a:xfrm>
            <a:off x="1168276" y="4013826"/>
            <a:ext cx="209550" cy="20955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937952" y="3889683"/>
            <a:ext cx="209550" cy="20955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3639" y="90524"/>
            <a:ext cx="7060367" cy="35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분석 DATA 처리 흐름</a:t>
            </a:r>
            <a:endParaRPr sz="1800" b="1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/>
          <p:nvPr/>
        </p:nvSpPr>
        <p:spPr>
          <a:xfrm>
            <a:off x="237661" y="932934"/>
            <a:ext cx="3134824" cy="357448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SERVER1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237661" y="1347531"/>
            <a:ext cx="3134824" cy="21890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</a:t>
            </a:r>
            <a:endParaRPr sz="18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Elastic-Search </a:t>
            </a:r>
            <a:endParaRPr sz="18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</a:t>
            </a:r>
            <a:endParaRPr sz="14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UVICORN</a:t>
            </a:r>
            <a:endParaRPr sz="14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DB:Maria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DB</a:t>
            </a:r>
            <a:endParaRPr sz="18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전처리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PANDAS, </a:t>
            </a:r>
            <a:r>
              <a:rPr lang="en-US" sz="18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NER모델</a:t>
            </a:r>
            <a:endParaRPr sz="18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en-US" sz="18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</a:t>
            </a:r>
            <a:r>
              <a:rPr lang="en-US" sz="18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Fisa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BERT</a:t>
            </a:r>
            <a:endParaRPr sz="18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59" name="Google Shape;159;p3"/>
          <p:cNvGraphicFramePr/>
          <p:nvPr/>
        </p:nvGraphicFramePr>
        <p:xfrm>
          <a:off x="4305052" y="932934"/>
          <a:ext cx="7440825" cy="2418600"/>
        </p:xfrm>
        <a:graphic>
          <a:graphicData uri="http://schemas.openxmlformats.org/drawingml/2006/table">
            <a:tbl>
              <a:tblPr firstRow="1" bandRow="1">
                <a:noFill/>
                <a:tableStyleId>{A8937F4A-8116-456C-90E5-39AC1C8677D9}</a:tableStyleId>
              </a:tblPr>
              <a:tblGrid>
                <a:gridCol w="260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Server name</a:t>
                      </a:r>
                      <a:endParaRPr sz="2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역할</a:t>
                      </a:r>
                      <a:endParaRPr sz="2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Server1</a:t>
                      </a:r>
                      <a:endParaRPr sz="20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mic Sans MS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크롤링</a:t>
                      </a:r>
                      <a:r>
                        <a:rPr lang="en-US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관리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mic Sans MS"/>
                        <a:buNone/>
                      </a:pPr>
                      <a:r>
                        <a:rPr lang="en-US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Big-data </a:t>
                      </a: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검색엔진 관리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mic Sans MS"/>
                        <a:buNone/>
                      </a:pPr>
                      <a:r>
                        <a:rPr lang="en-US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업무 시스템 DB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mic Sans MS"/>
                        <a:buNone/>
                      </a:pPr>
                      <a:r>
                        <a:rPr lang="en-US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File 분산 저장 server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875" marR="62875" marT="31450" marB="314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0" name="Google Shape;160;p3"/>
          <p:cNvSpPr/>
          <p:nvPr/>
        </p:nvSpPr>
        <p:spPr>
          <a:xfrm>
            <a:off x="63639" y="90524"/>
            <a:ext cx="7060367" cy="35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Hardware Architecture</a:t>
            </a:r>
            <a:endParaRPr sz="1800" b="1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545</Words>
  <Application>Microsoft Office PowerPoint</Application>
  <PresentationFormat>와이드스크린</PresentationFormat>
  <Paragraphs>175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Malgun Gothic</vt:lpstr>
      <vt:lpstr>Arial</vt:lpstr>
      <vt:lpstr>Comic Sans MS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GD_04</dc:creator>
  <cp:lastModifiedBy>M</cp:lastModifiedBy>
  <cp:revision>2</cp:revision>
  <dcterms:created xsi:type="dcterms:W3CDTF">2020-09-18T07:51:42Z</dcterms:created>
  <dcterms:modified xsi:type="dcterms:W3CDTF">2026-04-23T00:12:59Z</dcterms:modified>
</cp:coreProperties>
</file>