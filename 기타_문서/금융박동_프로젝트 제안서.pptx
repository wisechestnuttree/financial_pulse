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3">
          <p15:clr>
            <a:srgbClr val="000000"/>
          </p15:clr>
        </p15:guide>
        <p15:guide id="2" pos="2874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6pjoZ+QHaLyd2mzuK2BYCwrQK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3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미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6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5019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708392" y="3136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502920"/>
            <a:ext cx="2802636" cy="292608"/>
          </a:xfrm>
          <a:prstGeom prst="roundRect">
            <a:avLst>
              <a:gd fmla="val 50000" name="adj"/>
            </a:avLst>
          </a:prstGeom>
          <a:solidFill>
            <a:srgbClr val="334155">
              <a:alpha val="90196"/>
            </a:srgbClr>
          </a:solidFill>
          <a:ln cap="flat" cmpd="sng" w="12700">
            <a:solidFill>
              <a:srgbClr val="0FB8A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12648" y="594360"/>
            <a:ext cx="109728" cy="109728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58952" y="502920"/>
            <a:ext cx="24825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FinTech Intelligence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137160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 </a:t>
            </a:r>
            <a:r>
              <a:rPr b="1" i="0" lang="en-US" sz="6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Pulse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02920" y="26974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금융 뉴스로 시장의 맥박을 읽다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3310128"/>
            <a:ext cx="2926080" cy="10973"/>
          </a:xfrm>
          <a:prstGeom prst="rect">
            <a:avLst/>
          </a:prstGeom>
          <a:solidFill>
            <a:srgbClr val="3B82F6">
              <a:alpha val="6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02920" y="349300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감성 분석  ·  이슈 추적  ·  리스크 탐지  ·  키워드 요약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" y="4114800"/>
            <a:ext cx="1572768" cy="347472"/>
          </a:xfrm>
          <a:prstGeom prst="roundRect">
            <a:avLst>
              <a:gd fmla="val 50000" name="adj"/>
            </a:avLst>
          </a:prstGeom>
          <a:solidFill>
            <a:srgbClr val="334155">
              <a:alpha val="80000"/>
            </a:srgbClr>
          </a:solidFill>
          <a:ln cap="flat" cmpd="sng" w="12700">
            <a:solidFill>
              <a:srgbClr val="64748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48640" y="411480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실시간 감성 점수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240280" y="4114800"/>
            <a:ext cx="1572768" cy="347472"/>
          </a:xfrm>
          <a:prstGeom prst="roundRect">
            <a:avLst>
              <a:gd fmla="val 50000" name="adj"/>
            </a:avLst>
          </a:prstGeom>
          <a:solidFill>
            <a:srgbClr val="334155">
              <a:alpha val="80000"/>
            </a:srgbClr>
          </a:solidFill>
          <a:ln cap="flat" cmpd="sng" w="12700">
            <a:solidFill>
              <a:srgbClr val="64748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2286000" y="411480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섹터 리스크 탐지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977640" y="4114800"/>
            <a:ext cx="1463040" cy="347472"/>
          </a:xfrm>
          <a:prstGeom prst="roundRect">
            <a:avLst>
              <a:gd fmla="val 50000" name="adj"/>
            </a:avLst>
          </a:prstGeom>
          <a:solidFill>
            <a:srgbClr val="334155">
              <a:alpha val="80000"/>
            </a:srgbClr>
          </a:solidFill>
          <a:ln cap="flat" cmpd="sng" w="12700">
            <a:solidFill>
              <a:srgbClr val="64748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4023360" y="411480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키워드 트렌드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605272" y="4114800"/>
            <a:ext cx="1572768" cy="347472"/>
          </a:xfrm>
          <a:prstGeom prst="roundRect">
            <a:avLst>
              <a:gd fmla="val 50000" name="adj"/>
            </a:avLst>
          </a:prstGeom>
          <a:solidFill>
            <a:srgbClr val="334155">
              <a:alpha val="80000"/>
            </a:srgbClr>
          </a:solidFill>
          <a:ln cap="flat" cmpd="sng" w="12700">
            <a:solidFill>
              <a:srgbClr val="64748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650992" y="411480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이슈 흐름 시각화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02920" y="4663440"/>
            <a:ext cx="27432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502920" y="473659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Team. 올추파티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2212848" y="4754880"/>
            <a:ext cx="10973" cy="182880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2304288" y="473659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2026/ 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3019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FINANCE PULSE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목차</a:t>
            </a:r>
            <a:endParaRPr b="1" i="0" sz="3800" u="none" cap="none" strike="noStrike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708392" y="3136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2126" y="2838831"/>
            <a:ext cx="8230394" cy="36576"/>
          </a:xfrm>
          <a:prstGeom prst="rect">
            <a:avLst/>
          </a:prstGeom>
          <a:solidFill>
            <a:srgbClr val="1E3A5F">
              <a:alpha val="8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986758" y="2674239"/>
            <a:ext cx="402336" cy="402336"/>
            <a:chOff x="1078992" y="2377440"/>
            <a:chExt cx="402336" cy="402336"/>
          </a:xfrm>
        </p:grpSpPr>
        <p:sp>
          <p:nvSpPr>
            <p:cNvPr id="53" name="Google Shape;53;p2"/>
            <p:cNvSpPr/>
            <p:nvPr/>
          </p:nvSpPr>
          <p:spPr>
            <a:xfrm>
              <a:off x="1078992" y="2377440"/>
              <a:ext cx="402336" cy="402336"/>
            </a:xfrm>
            <a:prstGeom prst="ellipse">
              <a:avLst/>
            </a:prstGeom>
            <a:solidFill>
              <a:srgbClr val="3B82F6">
                <a:alpha val="54901"/>
              </a:srgbClr>
            </a:solidFill>
            <a:ln cap="flat" cmpd="sng" w="25400">
              <a:solidFill>
                <a:srgbClr val="3B82F6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078992" y="2377440"/>
              <a:ext cx="402336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2"/>
          <p:cNvSpPr/>
          <p:nvPr/>
        </p:nvSpPr>
        <p:spPr>
          <a:xfrm>
            <a:off x="434816" y="3273247"/>
            <a:ext cx="1506220" cy="96012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3B82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71976" y="3364687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71976" y="3649980"/>
            <a:ext cx="12817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71976" y="4059631"/>
            <a:ext cx="1161288" cy="10973"/>
          </a:xfrm>
          <a:prstGeom prst="rect">
            <a:avLst/>
          </a:prstGeom>
          <a:solidFill>
            <a:srgbClr val="3B82F6">
              <a:alpha val="6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" name="Google Shape;59;p2"/>
          <p:cNvGrpSpPr/>
          <p:nvPr/>
        </p:nvGrpSpPr>
        <p:grpSpPr>
          <a:xfrm>
            <a:off x="2508282" y="2674239"/>
            <a:ext cx="402336" cy="402336"/>
            <a:chOff x="3730752" y="2377440"/>
            <a:chExt cx="402336" cy="402336"/>
          </a:xfrm>
        </p:grpSpPr>
        <p:sp>
          <p:nvSpPr>
            <p:cNvPr id="60" name="Google Shape;60;p2"/>
            <p:cNvSpPr/>
            <p:nvPr/>
          </p:nvSpPr>
          <p:spPr>
            <a:xfrm>
              <a:off x="3730752" y="2377440"/>
              <a:ext cx="402336" cy="402336"/>
            </a:xfrm>
            <a:prstGeom prst="ellipse">
              <a:avLst/>
            </a:prstGeom>
            <a:solidFill>
              <a:srgbClr val="0FB8A0">
                <a:alpha val="54901"/>
              </a:srgbClr>
            </a:solidFill>
            <a:ln cap="flat" cmpd="sng" w="25400">
              <a:solidFill>
                <a:srgbClr val="0FB8A0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730752" y="2377440"/>
              <a:ext cx="402336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1954689" y="1466035"/>
            <a:ext cx="1506220" cy="96012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091849" y="1565489"/>
            <a:ext cx="1281747" cy="25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091849" y="1838540"/>
            <a:ext cx="1281747" cy="369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 목적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091849" y="2266041"/>
            <a:ext cx="1161288" cy="8325"/>
          </a:xfrm>
          <a:prstGeom prst="rect">
            <a:avLst/>
          </a:prstGeom>
          <a:solidFill>
            <a:srgbClr val="0FB8A0">
              <a:alpha val="60000"/>
            </a:srgbClr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2"/>
          <p:cNvGrpSpPr/>
          <p:nvPr/>
        </p:nvGrpSpPr>
        <p:grpSpPr>
          <a:xfrm>
            <a:off x="4215384" y="2674239"/>
            <a:ext cx="402336" cy="402336"/>
            <a:chOff x="6382512" y="2377440"/>
            <a:chExt cx="402336" cy="402336"/>
          </a:xfrm>
        </p:grpSpPr>
        <p:sp>
          <p:nvSpPr>
            <p:cNvPr id="67" name="Google Shape;67;p2"/>
            <p:cNvSpPr/>
            <p:nvPr/>
          </p:nvSpPr>
          <p:spPr>
            <a:xfrm>
              <a:off x="6382512" y="2377440"/>
              <a:ext cx="402336" cy="402336"/>
            </a:xfrm>
            <a:prstGeom prst="ellipse">
              <a:avLst/>
            </a:prstGeom>
            <a:solidFill>
              <a:srgbClr val="22C55E">
                <a:alpha val="54901"/>
              </a:srgbClr>
            </a:solidFill>
            <a:ln cap="flat" cmpd="sng" w="25400">
              <a:solidFill>
                <a:srgbClr val="22C55E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382512" y="2377440"/>
              <a:ext cx="402336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2"/>
          <p:cNvSpPr/>
          <p:nvPr/>
        </p:nvSpPr>
        <p:spPr>
          <a:xfrm>
            <a:off x="3324129" y="3273247"/>
            <a:ext cx="2087880" cy="96012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22C55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461289" y="3364687"/>
            <a:ext cx="177628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461289" y="3639007"/>
            <a:ext cx="18556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 핵심 서비스</a:t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461289" y="4070604"/>
            <a:ext cx="1776285" cy="0"/>
          </a:xfrm>
          <a:prstGeom prst="rect">
            <a:avLst/>
          </a:prstGeom>
          <a:solidFill>
            <a:srgbClr val="22C55E">
              <a:alpha val="6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346728" y="2674239"/>
            <a:ext cx="402336" cy="402336"/>
          </a:xfrm>
          <a:prstGeom prst="ellipse">
            <a:avLst/>
          </a:prstGeom>
          <a:solidFill>
            <a:srgbClr val="EF4444">
              <a:alpha val="54901"/>
            </a:srgbClr>
          </a:solidFill>
          <a:ln cap="flat" cmpd="sng" w="25400">
            <a:solidFill>
              <a:srgbClr val="EF4444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353935" y="2674239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5784754" y="2674239"/>
            <a:ext cx="402336" cy="402336"/>
          </a:xfrm>
          <a:prstGeom prst="ellipse">
            <a:avLst/>
          </a:prstGeom>
          <a:solidFill>
            <a:srgbClr val="F59E0B">
              <a:alpha val="54901"/>
            </a:srgbClr>
          </a:solidFill>
          <a:ln cap="flat" cmpd="sng" w="25400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786516" y="2674239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5056107" y="1466036"/>
            <a:ext cx="1850486" cy="960120"/>
          </a:xfrm>
          <a:prstGeom prst="rect">
            <a:avLst/>
          </a:prstGeom>
          <a:noFill/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193267" y="1565489"/>
            <a:ext cx="1281747" cy="25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r>
              <a:rPr b="1" i="0" lang="en-US" sz="900" u="none" cap="none" strike="noStrike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5193266" y="1838540"/>
            <a:ext cx="1585311" cy="369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 기대효과</a:t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5193266" y="2266041"/>
            <a:ext cx="1585310" cy="8325"/>
          </a:xfrm>
          <a:prstGeom prst="rect">
            <a:avLst/>
          </a:prstGeom>
          <a:solidFill>
            <a:srgbClr val="F59E0B">
              <a:alpha val="6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344222" y="3291534"/>
            <a:ext cx="2388298" cy="96012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EF444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441693" y="3390988"/>
            <a:ext cx="2162810" cy="25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6441693" y="3664039"/>
            <a:ext cx="2226819" cy="369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확장 가능한 비즈니스 영역</a:t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6441693" y="4091539"/>
            <a:ext cx="2226819" cy="0"/>
          </a:xfrm>
          <a:prstGeom prst="rect">
            <a:avLst/>
          </a:prstGeom>
          <a:solidFill>
            <a:srgbClr val="0FB8A0">
              <a:alpha val="6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3019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프로젝트 </a:t>
            </a:r>
            <a:r>
              <a:rPr b="1" i="0" lang="en-US" sz="3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개요 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57199" y="1463040"/>
            <a:ext cx="8275320" cy="329184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6182D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1455420"/>
            <a:ext cx="8275320" cy="742823"/>
          </a:xfrm>
          <a:prstGeom prst="rect">
            <a:avLst/>
          </a:prstGeom>
          <a:solidFill>
            <a:srgbClr val="6182D6">
              <a:alpha val="25098"/>
            </a:srgbClr>
          </a:solidFill>
          <a:ln cap="flat" cmpd="sng" w="12700">
            <a:solidFill>
              <a:srgbClr val="618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02920" y="1464945"/>
            <a:ext cx="8229600" cy="733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정보 과잉의 시대, 금융 시장의 핵심 맥락 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61555" y="1938528"/>
            <a:ext cx="7532052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문제:</a:t>
            </a: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하루에도 수많은 금융 뉴스가 쏟아져, 투자자가 직접 다 읽고 핵심 흐름을 파악하기 어렵다.</a:t>
            </a:r>
            <a:br>
              <a:rPr b="0" i="0" lang="en-US" sz="13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한계:</a:t>
            </a: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기사 수는 많지만, 시장 분위기가 좋아지는지 나빠지는지, 어느 분야의 이슈가 급증하는지는 한눈에 보기 어렵다.</a:t>
            </a:r>
            <a:br>
              <a:rPr b="0" i="0" lang="en-US" sz="13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방향:</a:t>
            </a: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뉴스 데이터를 분석해 시장 분위기와 급변 이슈를 빠르게 파악할 수 있는 시각화 도구를 만든다.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198647" y="-394854"/>
            <a:ext cx="5029200" cy="64008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3019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프로젝트 </a:t>
            </a:r>
            <a:r>
              <a:rPr b="1" i="0" lang="en-US" sz="3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기획 배경 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28" y="1382633"/>
            <a:ext cx="2071637" cy="30699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2788920" y="1382633"/>
            <a:ext cx="5748178" cy="311363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1" i="0" sz="900" u="sng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1430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1" i="0" sz="900" u="sng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1430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1" i="0" sz="900" u="sng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1430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1" i="0" sz="900" u="sng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✔"/>
            </a:pPr>
            <a:r>
              <a:rPr b="1" i="0" lang="en-US" sz="900" u="sng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문제 인식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정보 과부하로 인해 어떤 뉴스가 진실이고 중요한지 판단하기 어려운 '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뉴스 피로감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'을 겪고 있음.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206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✔"/>
            </a:pPr>
            <a:r>
              <a:rPr b="1" i="0" lang="en-US" sz="900" u="sng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소비자 사례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뉴스 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선택 과정이 스트레스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가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 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되어 오히려 SNS나 유튜브 등으로 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대체하거나 회피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하는 경향이 나타남.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206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✔"/>
            </a:pPr>
            <a:r>
              <a:rPr b="1" i="0" lang="en-US" sz="900" u="sng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해결 방안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미디어 정보 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비판적 수용 능력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과 언론사의 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사실 검증 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및 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신뢰성 강화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가 필수적임.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206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✔"/>
            </a:pPr>
            <a:r>
              <a:rPr b="1" i="0" lang="en-US" sz="900" u="sng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핵심 결론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뉴스 </a:t>
            </a: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소비자 개인의 비판적 판단 능력과 언론의 책임 있는 보도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가 함께 뒷받침되어야 함.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206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*정보 홍수 속 뉴스 피로감을 해소하려면 소비자의 미디어 비판적 수용 능력과 언론의 신뢰성 강화가 동시에 필요함*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뉴스출처: 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용수연(c) 오마이뉴스(시민기자)</a:t>
            </a:r>
            <a:r>
              <a:rPr b="0" i="0" lang="en-US" sz="800" u="none" cap="none" strike="noStrike">
                <a:solidFill>
                  <a:schemeClr val="lt1"/>
                </a:solidFill>
                <a:latin typeface="Gulimche"/>
                <a:ea typeface="Gulimche"/>
                <a:cs typeface="Gulimche"/>
                <a:sym typeface="Gulimche"/>
              </a:rPr>
              <a:t> </a:t>
            </a:r>
            <a:r>
              <a:rPr b="0" i="0" lang="en-US" sz="8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24.10.16, 09:41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000FF"/>
                </a:solidFill>
                <a:latin typeface="Gulimche"/>
                <a:ea typeface="Gulimche"/>
                <a:cs typeface="Gulimche"/>
                <a:sym typeface="Gulimche"/>
              </a:rPr>
              <a:t>(https://www.ohmynews.com/NWS_Web/View/at_pg.aspx?CNTN_CD=A0003070836))</a:t>
            </a:r>
            <a:endParaRPr b="1" i="1" sz="800" u="none" cap="none" strike="noStrike">
              <a:solidFill>
                <a:srgbClr val="0000FF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112553" y="1425421"/>
            <a:ext cx="3376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미디어의 바다, 길 잃은 뉴스 소비자들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4617720" y="1782316"/>
            <a:ext cx="195256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- 정보 과부하 시대의 생존법 -</a:t>
            </a:r>
            <a:endParaRPr b="1" sz="900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45098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34901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708392" y="3136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Purpose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Why? </a:t>
            </a:r>
            <a:r>
              <a:rPr b="1" lang="en-US" sz="3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Finance Pulse.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EF444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solidFill>
            <a:srgbClr val="EF4444">
              <a:alpha val="2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94360" y="14173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현재의 문제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58368" y="1938528"/>
            <a:ext cx="349300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정보 과잉과 인지적 부담</a:t>
            </a:r>
            <a:b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매일 쏟아지는 수많은 금융 뉴스로 인해, 사용자가 핵심 흐름과 중요한 변화를 빠르게 파악하기 어려움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뉴스 피로도 증가</a:t>
            </a:r>
            <a:b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과도한 정보 노출로 인해 뉴스를 읽는 부담이 커지고, 결국 필요한 정보까지 놓치게 되는 문제가 발생함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직관적인 분석 도구의 부족</a:t>
            </a:r>
            <a:b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기사의 분위기나 특정 분야의 급격한 변화 흐름을 한눈에 파악할 수 있는 시각적 분석 도구가 부족함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304157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E6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A0B4E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3000">
              <a:solidFill>
                <a:srgbClr val="A0B4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846320" y="1417320"/>
            <a:ext cx="3840480" cy="329184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69D8AD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solidFill>
            <a:srgbClr val="69D8AD">
              <a:alpha val="40000"/>
            </a:srgbClr>
          </a:solidFill>
          <a:ln cap="flat" cmpd="sng" w="12700">
            <a:solidFill>
              <a:srgbClr val="69D8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983480" y="14173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 Pulse 솔루션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029200" y="1938528"/>
            <a:ext cx="349300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CCFB9"/>
              </a:buClr>
              <a:buSzPts val="1300"/>
              <a:buFont typeface="Malgun Gothic"/>
              <a:buChar char="•"/>
            </a:pPr>
            <a:r>
              <a:rPr b="1" lang="en-US" sz="1300">
                <a:solidFill>
                  <a:srgbClr val="8CCFB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 분위기 시각화</a:t>
            </a:r>
            <a:br>
              <a:rPr lang="en-US" sz="1300">
                <a:solidFill>
                  <a:srgbClr val="8CCFB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8CCFB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 분위기를 한눈에 보여줌으로 빠르게 파악하게 도와줌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BE5C8"/>
              </a:buClr>
              <a:buSzPts val="1300"/>
              <a:buFont typeface="Malgun Gothic"/>
              <a:buChar char="•"/>
            </a:pPr>
            <a:r>
              <a:rPr b="1" lang="en-US" sz="1300">
                <a:solidFill>
                  <a:srgbClr val="9BE5C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인사이트 요약</a:t>
            </a:r>
            <a:br>
              <a:rPr lang="en-US" sz="1300">
                <a:solidFill>
                  <a:srgbClr val="9BE5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9BE5C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핵심만 빠르게 요약하여 피로도를 줄여줌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BE5C8"/>
              </a:buClr>
              <a:buSzPts val="1300"/>
              <a:buFont typeface="Malgun Gothic"/>
              <a:buChar char="•"/>
            </a:pPr>
            <a:r>
              <a:rPr b="1" lang="en-US" sz="1300">
                <a:solidFill>
                  <a:srgbClr val="9BE5C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 흐름 시각화</a:t>
            </a:r>
            <a:br>
              <a:rPr lang="en-US" sz="1300">
                <a:solidFill>
                  <a:srgbClr val="9BE5C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rgbClr val="9BE5C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기사 분위기와 분야별 급격한 변화 흐름을 점수, 비율, 색상으로 시각화 하여 한눈에 파악하게 함</a:t>
            </a:r>
            <a:br>
              <a:rPr lang="en-US" sz="1300">
                <a:solidFill>
                  <a:srgbClr val="9BE5C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9BE5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3019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Purpose</a:t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프로젝트 </a:t>
            </a:r>
            <a:r>
              <a:rPr b="1" lang="en-US" sz="3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목적 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7199" y="1463040"/>
            <a:ext cx="8275320" cy="329184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69D8AD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1455420"/>
            <a:ext cx="8275320" cy="742823"/>
          </a:xfrm>
          <a:prstGeom prst="rect">
            <a:avLst/>
          </a:prstGeom>
          <a:solidFill>
            <a:srgbClr val="69D8AD">
              <a:alpha val="25098"/>
            </a:srgbClr>
          </a:solidFill>
          <a:ln cap="flat" cmpd="sng" w="12700">
            <a:solidFill>
              <a:srgbClr val="69D8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97033" y="2270760"/>
            <a:ext cx="8025621" cy="227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✔"/>
            </a:pPr>
            <a:r>
              <a:rPr b="1" lang="en-US" sz="1100">
                <a:solidFill>
                  <a:srgbClr val="FFFF00"/>
                </a:solidFill>
                <a:latin typeface="Gulimche"/>
                <a:ea typeface="Gulimche"/>
                <a:cs typeface="Gulimche"/>
                <a:sym typeface="Gulimche"/>
              </a:rPr>
              <a:t>흐름 시각화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Gulimche"/>
                <a:ea typeface="Gulimche"/>
                <a:cs typeface="Gulimche"/>
                <a:sym typeface="Gulimche"/>
              </a:rPr>
              <a:t>	뉴스 키워드와 기사 흐름을 구조화해 한눈에 시장 방향성 확인</a:t>
            </a:r>
            <a:endParaRPr/>
          </a:p>
          <a:p>
            <a:pPr indent="-107950" lvl="0" marL="1714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Gulimche"/>
              <a:ea typeface="Gulimche"/>
              <a:cs typeface="Gulimche"/>
              <a:sym typeface="Gulimche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✔"/>
            </a:pPr>
            <a:r>
              <a:rPr b="1" lang="en-US" sz="1100">
                <a:solidFill>
                  <a:srgbClr val="FFFF00"/>
                </a:solidFill>
                <a:latin typeface="Gulimche"/>
                <a:ea typeface="Gulimche"/>
                <a:cs typeface="Gulimche"/>
                <a:sym typeface="Gulimche"/>
              </a:rPr>
              <a:t>탐색 시간 단축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Gulimche"/>
                <a:ea typeface="Gulimche"/>
                <a:cs typeface="Gulimche"/>
                <a:sym typeface="Gulimche"/>
              </a:rPr>
              <a:t>	직관적인 차트와 요약으로 정보 찾는 시간을 줄임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961349" y="1640205"/>
            <a:ext cx="5582450" cy="367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"뉴스의 흐름을 한눈에 보여주다"</a:t>
            </a:r>
            <a:endParaRPr b="1" i="0"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16800"/>
          <a:stretch/>
        </p:blipFill>
        <p:spPr>
          <a:xfrm>
            <a:off x="7228160" y="2234773"/>
            <a:ext cx="1179919" cy="981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 News PNG Transparent Images Free Download | Vector Files | Pngtree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9567" y="3997817"/>
            <a:ext cx="1043199" cy="78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데이터 시각화, 직관적으로 디자인하기" id="153" name="Google Shape;15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9071" y="3174585"/>
            <a:ext cx="1049298" cy="786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0FB8A0">
              <a:alpha val="0"/>
            </a:srgbClr>
          </a:solidFill>
          <a:ln cap="flat" cmpd="sng" w="12700">
            <a:solidFill>
              <a:srgbClr val="0FB8A0">
                <a:alpha val="3019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708392" y="3136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Core Services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3가지 </a:t>
            </a:r>
            <a:r>
              <a:rPr b="1" lang="en-US" sz="3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핵심 기능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57200" y="2103120"/>
            <a:ext cx="2651760" cy="1627632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3B82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3B82F6">
              <a:alpha val="9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21792" y="2286000"/>
            <a:ext cx="594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21792" y="2788920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기업 및 키워드에 대한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성향 점수 측정 및 시각화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30936" y="3116275"/>
            <a:ext cx="2478024" cy="641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기사별·섹터별 감성 분석 (</a:t>
            </a:r>
            <a:r>
              <a:rPr b="1"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긍정·부정·중립 수치화</a:t>
            </a: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319272" y="2103120"/>
            <a:ext cx="2651760" cy="1627632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319272" y="2103120"/>
            <a:ext cx="2651760" cy="54864"/>
          </a:xfrm>
          <a:prstGeom prst="rect">
            <a:avLst/>
          </a:prstGeom>
          <a:solidFill>
            <a:srgbClr val="0FB8A0">
              <a:alpha val="90196"/>
            </a:srgbClr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483864" y="2286000"/>
            <a:ext cx="594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483864" y="2788920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키워드 추출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483864" y="3154680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당일 TOP 금융 키워드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워드클라우드·차트 표현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181344" y="2103120"/>
            <a:ext cx="2651760" cy="1627632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181344" y="2103120"/>
            <a:ext cx="2651760" cy="54864"/>
          </a:xfrm>
          <a:prstGeom prst="rect">
            <a:avLst/>
          </a:prstGeom>
          <a:solidFill>
            <a:srgbClr val="F59E0B">
              <a:alpha val="9019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345936" y="2286000"/>
            <a:ext cx="594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345936" y="2788920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급등한 기사의 성향 분석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345936" y="3154680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전일 대비 급등 섹터(분야)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뉴스의 분위기를 색으로 한눈에 표현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45098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34901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708392" y="3136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CORE SERVICE 01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02920" y="548640"/>
            <a:ext cx="818388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기업 및 키워드에 대한 성향 점수 측정 및 시각화</a:t>
            </a:r>
            <a:endParaRPr b="1" sz="300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57200" y="1417320"/>
            <a:ext cx="3749040" cy="338328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3B82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40080" y="153619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감성 점수 예시  —  삼성전자 (005930)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58368" y="2011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긍정 점수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743200" y="20116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58368" y="2331720"/>
            <a:ext cx="3017520" cy="128016"/>
          </a:xfrm>
          <a:prstGeom prst="rect">
            <a:avLst/>
          </a:prstGeom>
          <a:solidFill>
            <a:srgbClr val="334155">
              <a:alpha val="7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58368" y="2331720"/>
            <a:ext cx="2172614" cy="128016"/>
          </a:xfrm>
          <a:prstGeom prst="rect">
            <a:avLst/>
          </a:prstGeom>
          <a:solidFill>
            <a:srgbClr val="22C55E">
              <a:alpha val="85098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58368" y="27614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부정 점수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743200" y="276148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0.21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58368" y="3081528"/>
            <a:ext cx="3017520" cy="128016"/>
          </a:xfrm>
          <a:prstGeom prst="rect">
            <a:avLst/>
          </a:prstGeom>
          <a:solidFill>
            <a:srgbClr val="334155">
              <a:alpha val="7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58368" y="3081528"/>
            <a:ext cx="633679" cy="128016"/>
          </a:xfrm>
          <a:prstGeom prst="rect">
            <a:avLst/>
          </a:prstGeom>
          <a:solidFill>
            <a:srgbClr val="EF4444">
              <a:alpha val="8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58368" y="35112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중립 점수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743200" y="351129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58368" y="3831336"/>
            <a:ext cx="3017520" cy="128016"/>
          </a:xfrm>
          <a:prstGeom prst="rect">
            <a:avLst/>
          </a:prstGeom>
          <a:solidFill>
            <a:srgbClr val="334155">
              <a:alpha val="7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58368" y="3831336"/>
            <a:ext cx="211226" cy="128016"/>
          </a:xfrm>
          <a:prstGeom prst="rect">
            <a:avLst/>
          </a:prstGeom>
          <a:solidFill>
            <a:srgbClr val="64748B">
              <a:alpha val="85098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58368" y="4343400"/>
            <a:ext cx="2011680" cy="320040"/>
          </a:xfrm>
          <a:prstGeom prst="roundRect">
            <a:avLst>
              <a:gd fmla="val 28571" name="adj"/>
            </a:avLst>
          </a:prstGeom>
          <a:solidFill>
            <a:srgbClr val="22C55E">
              <a:alpha val="25098"/>
            </a:srgbClr>
          </a:solidFill>
          <a:ln cap="flat" cmpd="sng" w="12700">
            <a:solidFill>
              <a:srgbClr val="22C5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658368" y="43434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종합 감성: 긍정 우세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434840" y="1417320"/>
            <a:ext cx="4251960" cy="338328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617720" y="153619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감성 비율 분포 (시장 전체)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892040" y="1965960"/>
            <a:ext cx="1005840" cy="1005840"/>
          </a:xfrm>
          <a:prstGeom prst="ellipse">
            <a:avLst/>
          </a:prstGeom>
          <a:solidFill>
            <a:srgbClr val="22C55E">
              <a:alpha val="20000"/>
            </a:srgbClr>
          </a:solidFill>
          <a:ln cap="flat" cmpd="sng" w="25400">
            <a:solidFill>
              <a:srgbClr val="22C55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892040" y="19659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00600" y="30906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긍정 기사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217920" y="1965960"/>
            <a:ext cx="1005840" cy="1005840"/>
          </a:xfrm>
          <a:prstGeom prst="ellipse">
            <a:avLst/>
          </a:prstGeom>
          <a:solidFill>
            <a:srgbClr val="64748B">
              <a:alpha val="20000"/>
            </a:srgbClr>
          </a:solidFill>
          <a:ln cap="flat" cmpd="sng" w="25400">
            <a:solidFill>
              <a:srgbClr val="64748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217920" y="19659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126480" y="30906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중립 기사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543800" y="1965960"/>
            <a:ext cx="1005840" cy="1005840"/>
          </a:xfrm>
          <a:prstGeom prst="ellipse">
            <a:avLst/>
          </a:prstGeom>
          <a:solidFill>
            <a:srgbClr val="EF4444">
              <a:alpha val="20000"/>
            </a:srgbClr>
          </a:solidFill>
          <a:ln cap="flat" cmpd="sng" w="25400">
            <a:solidFill>
              <a:srgbClr val="EF4444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7543800" y="19659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23%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452360" y="30906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부정 기사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617720" y="3493008"/>
            <a:ext cx="38862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617720" y="35661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분야별 긍정 / 부정 비율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700016" y="3922166"/>
            <a:ext cx="384048" cy="649834"/>
          </a:xfrm>
          <a:prstGeom prst="rect">
            <a:avLst/>
          </a:prstGeom>
          <a:solidFill>
            <a:srgbClr val="22C55E">
              <a:alpha val="65098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120640" y="4347058"/>
            <a:ext cx="384048" cy="224942"/>
          </a:xfrm>
          <a:prstGeom prst="rect">
            <a:avLst/>
          </a:prstGeom>
          <a:solidFill>
            <a:srgbClr val="EF4444">
              <a:alpha val="6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663440" y="45994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678424" y="4059631"/>
            <a:ext cx="384048" cy="512369"/>
          </a:xfrm>
          <a:prstGeom prst="rect">
            <a:avLst/>
          </a:prstGeom>
          <a:solidFill>
            <a:srgbClr val="22C55E">
              <a:alpha val="65098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099048" y="4222090"/>
            <a:ext cx="384048" cy="349910"/>
          </a:xfrm>
          <a:prstGeom prst="rect">
            <a:avLst/>
          </a:prstGeom>
          <a:solidFill>
            <a:srgbClr val="EF4444">
              <a:alpha val="6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641848" y="45994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금융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656832" y="4134612"/>
            <a:ext cx="384048" cy="437388"/>
          </a:xfrm>
          <a:prstGeom prst="rect">
            <a:avLst/>
          </a:prstGeom>
          <a:solidFill>
            <a:srgbClr val="22C55E">
              <a:alpha val="65098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7077456" y="4059631"/>
            <a:ext cx="384048" cy="512369"/>
          </a:xfrm>
          <a:prstGeom prst="rect">
            <a:avLst/>
          </a:prstGeom>
          <a:solidFill>
            <a:srgbClr val="EF4444">
              <a:alpha val="6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6620256" y="45994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반도체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635240" y="4022141"/>
            <a:ext cx="384048" cy="549859"/>
          </a:xfrm>
          <a:prstGeom prst="rect">
            <a:avLst/>
          </a:prstGeom>
          <a:solidFill>
            <a:srgbClr val="22C55E">
              <a:alpha val="65098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8055864" y="4334561"/>
            <a:ext cx="384048" cy="237439"/>
          </a:xfrm>
          <a:prstGeom prst="rect">
            <a:avLst/>
          </a:prstGeom>
          <a:solidFill>
            <a:srgbClr val="EF4444">
              <a:alpha val="6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7598664" y="45994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바이오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4196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3215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CORE SERVICE 02</a:t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02920" y="54864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금일 핵심 키워드</a:t>
            </a:r>
            <a:endParaRPr b="1" sz="290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02920" y="1417320"/>
            <a:ext cx="3749040" cy="338328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04088" y="153619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오늘의 TOP 금융 키워드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04088" y="20116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051560" y="20116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금리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350008" y="2121408"/>
            <a:ext cx="1554480" cy="128016"/>
          </a:xfrm>
          <a:prstGeom prst="rect">
            <a:avLst/>
          </a:prstGeom>
          <a:solidFill>
            <a:srgbClr val="334155">
              <a:alpha val="60000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2350008" y="2121408"/>
            <a:ext cx="1515618" cy="128016"/>
          </a:xfrm>
          <a:prstGeom prst="rect">
            <a:avLst/>
          </a:prstGeom>
          <a:solidFill>
            <a:srgbClr val="3B82F6">
              <a:alpha val="7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703320" y="20116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312건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04088" y="2542032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51560" y="2542032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환율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350008" y="2651760"/>
            <a:ext cx="1554480" cy="128016"/>
          </a:xfrm>
          <a:prstGeom prst="rect">
            <a:avLst/>
          </a:prstGeom>
          <a:solidFill>
            <a:srgbClr val="334155">
              <a:alpha val="60000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350008" y="2651760"/>
            <a:ext cx="1394174" cy="128016"/>
          </a:xfrm>
          <a:prstGeom prst="rect">
            <a:avLst/>
          </a:prstGeom>
          <a:solidFill>
            <a:srgbClr val="60A5FA">
              <a:alpha val="70196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703320" y="2542032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287건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704088" y="3072384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051560" y="3072384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반도체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2350008" y="3182112"/>
            <a:ext cx="1554480" cy="128016"/>
          </a:xfrm>
          <a:prstGeom prst="rect">
            <a:avLst/>
          </a:prstGeom>
          <a:solidFill>
            <a:srgbClr val="334155">
              <a:alpha val="60000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2350008" y="3182112"/>
            <a:ext cx="1219295" cy="128016"/>
          </a:xfrm>
          <a:prstGeom prst="rect">
            <a:avLst/>
          </a:prstGeom>
          <a:solidFill>
            <a:srgbClr val="F59E0B">
              <a:alpha val="7019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703320" y="3072384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251건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04088" y="3602736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051560" y="3602736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실적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2350008" y="3712464"/>
            <a:ext cx="1554480" cy="128016"/>
          </a:xfrm>
          <a:prstGeom prst="rect">
            <a:avLst/>
          </a:prstGeom>
          <a:solidFill>
            <a:srgbClr val="334155">
              <a:alpha val="60000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2350008" y="3712464"/>
            <a:ext cx="961834" cy="128016"/>
          </a:xfrm>
          <a:prstGeom prst="rect">
            <a:avLst/>
          </a:prstGeom>
          <a:solidFill>
            <a:srgbClr val="22C55E">
              <a:alpha val="7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703320" y="3602736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198건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04088" y="4133088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051560" y="4133088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미국 증시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2350008" y="4242816"/>
            <a:ext cx="1554480" cy="128016"/>
          </a:xfrm>
          <a:prstGeom prst="rect">
            <a:avLst/>
          </a:prstGeom>
          <a:solidFill>
            <a:srgbClr val="334155">
              <a:alpha val="60000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350008" y="4242816"/>
            <a:ext cx="850106" cy="128016"/>
          </a:xfrm>
          <a:prstGeom prst="rect">
            <a:avLst/>
          </a:prstGeom>
          <a:solidFill>
            <a:srgbClr val="0FB8A0">
              <a:alpha val="70196"/>
            </a:srgbClr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703320" y="413308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175건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572000" y="1417320"/>
            <a:ext cx="4114800" cy="3383280"/>
          </a:xfrm>
          <a:prstGeom prst="rect">
            <a:avLst/>
          </a:prstGeom>
          <a:solidFill>
            <a:srgbClr val="0D1F35">
              <a:alpha val="80000"/>
            </a:srgbClr>
          </a:solidFill>
          <a:ln cap="flat" cmpd="sng" w="12700">
            <a:solidFill>
              <a:srgbClr val="0FB8A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4754880" y="1893960"/>
            <a:ext cx="3749040" cy="9144"/>
          </a:xfrm>
          <a:prstGeom prst="rect">
            <a:avLst/>
          </a:prstGeom>
          <a:solidFill>
            <a:srgbClr val="0FB8A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754880" y="2146253"/>
            <a:ext cx="347472" cy="347472"/>
          </a:xfrm>
          <a:prstGeom prst="ellipse">
            <a:avLst/>
          </a:prstGeom>
          <a:solidFill>
            <a:srgbClr val="0FB8A0">
              <a:alpha val="25098"/>
            </a:srgbClr>
          </a:solidFill>
          <a:ln cap="flat" cmpd="sng" w="9525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175360" y="2076010"/>
            <a:ext cx="3328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뉴스 트렌드 즉시 파악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어떤 키워드가 시장을 주도하는지 수치로 확인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754880" y="2756519"/>
            <a:ext cx="347472" cy="347472"/>
          </a:xfrm>
          <a:prstGeom prst="ellipse">
            <a:avLst/>
          </a:prstGeom>
          <a:solidFill>
            <a:srgbClr val="0FB8A0">
              <a:alpha val="25098"/>
            </a:srgbClr>
          </a:solidFill>
          <a:ln cap="flat" cmpd="sng" w="9525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175360" y="2644712"/>
            <a:ext cx="3328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워드클라우드로 직관적 시각화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글자 크기로 언급 빈도를 한눈에 비교 가능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754880" y="3304439"/>
            <a:ext cx="347472" cy="347472"/>
          </a:xfrm>
          <a:prstGeom prst="ellipse">
            <a:avLst/>
          </a:prstGeom>
          <a:solidFill>
            <a:srgbClr val="0FB8A0">
              <a:alpha val="25098"/>
            </a:srgbClr>
          </a:solidFill>
          <a:ln cap="flat" cmpd="sng" w="9525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5175360" y="3244587"/>
            <a:ext cx="3328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투자 판단 속도 향상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5 순위 차트로 오늘의 핵심 이슈를 빠르게 포착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754880" y="3946454"/>
            <a:ext cx="3749040" cy="274320"/>
          </a:xfrm>
          <a:prstGeom prst="rect">
            <a:avLst/>
          </a:prstGeom>
          <a:solidFill>
            <a:srgbClr val="158F87">
              <a:alpha val="14901"/>
            </a:srgbClr>
          </a:solidFill>
          <a:ln cap="flat" cmpd="sng" w="9525">
            <a:solidFill>
              <a:srgbClr val="0FB8A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뉴스를 읽지 않아도 시장 흐름을 파악할 수 있습니다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4196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3215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3774567" y="326974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CORE SERVICE 03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02920" y="548640"/>
            <a:ext cx="818388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급등 기사 성향 분석</a:t>
            </a:r>
            <a:endParaRPr b="1" sz="220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02920" y="135712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01015" y="1550670"/>
            <a:ext cx="4251960" cy="3383280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FFE76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83895" y="166954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7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E766"/>
                </a:solidFill>
                <a:latin typeface="Calibri"/>
                <a:ea typeface="Calibri"/>
                <a:cs typeface="Calibri"/>
                <a:sym typeface="Calibri"/>
              </a:rPr>
              <a:t>급등 기사의 성향 분석 (</a:t>
            </a:r>
            <a:r>
              <a:rPr b="1" lang="en-US" sz="1200">
                <a:solidFill>
                  <a:srgbClr val="2CB911"/>
                </a:solidFill>
                <a:latin typeface="Calibri"/>
                <a:ea typeface="Calibri"/>
                <a:cs typeface="Calibri"/>
                <a:sym typeface="Calibri"/>
              </a:rPr>
              <a:t>긍정적 </a:t>
            </a:r>
            <a:r>
              <a:rPr b="1" lang="en-US" sz="1200">
                <a:solidFill>
                  <a:srgbClr val="FFE76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200">
                <a:solidFill>
                  <a:srgbClr val="CA3D42"/>
                </a:solidFill>
                <a:latin typeface="Calibri"/>
                <a:ea typeface="Calibri"/>
                <a:cs typeface="Calibri"/>
                <a:sym typeface="Calibri"/>
              </a:rPr>
              <a:t>부정적</a:t>
            </a:r>
            <a:r>
              <a:rPr b="1" lang="en-US" sz="1200">
                <a:solidFill>
                  <a:srgbClr val="FFE76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83895" y="2145030"/>
            <a:ext cx="3886200" cy="530352"/>
          </a:xfrm>
          <a:prstGeom prst="roundRect">
            <a:avLst>
              <a:gd fmla="val 10345" name="adj"/>
            </a:avLst>
          </a:prstGeom>
          <a:solidFill>
            <a:srgbClr val="32D709">
              <a:alpha val="18039"/>
            </a:srgbClr>
          </a:solidFill>
          <a:ln cap="flat" cmpd="sng" w="12700">
            <a:solidFill>
              <a:srgbClr val="32D709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821055" y="225475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D70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2D709"/>
                </a:solidFill>
                <a:latin typeface="Calibri"/>
                <a:ea typeface="Calibri"/>
                <a:cs typeface="Calibri"/>
                <a:sym typeface="Calibri"/>
              </a:rPr>
              <a:t>반도체</a:t>
            </a:r>
            <a:endParaRPr sz="1300">
              <a:solidFill>
                <a:srgbClr val="32D70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964055" y="225475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평소  18%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2832735" y="225475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D70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2D709"/>
                </a:solidFill>
                <a:latin typeface="Calibri"/>
                <a:ea typeface="Calibri"/>
                <a:cs typeface="Calibri"/>
                <a:sym typeface="Calibri"/>
              </a:rPr>
              <a:t>오늘  41%</a:t>
            </a:r>
            <a:endParaRPr sz="1200">
              <a:solidFill>
                <a:srgbClr val="32D70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564255" y="2236470"/>
            <a:ext cx="621792" cy="347472"/>
          </a:xfrm>
          <a:prstGeom prst="roundRect">
            <a:avLst>
              <a:gd fmla="val 50000" name="adj"/>
            </a:avLst>
          </a:prstGeom>
          <a:solidFill>
            <a:srgbClr val="32D709">
              <a:alpha val="80000"/>
            </a:srgbClr>
          </a:solidFill>
          <a:ln cap="flat" cmpd="sng" w="12700">
            <a:solidFill>
              <a:srgbClr val="2CB911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609975" y="2236470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▲ 급등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83895" y="2839974"/>
            <a:ext cx="3886200" cy="530352"/>
          </a:xfrm>
          <a:prstGeom prst="roundRect">
            <a:avLst>
              <a:gd fmla="val 10345" name="adj"/>
            </a:avLst>
          </a:prstGeom>
          <a:solidFill>
            <a:srgbClr val="EF4444">
              <a:alpha val="18039"/>
            </a:srgbClr>
          </a:solidFill>
          <a:ln cap="flat" cmpd="sng" w="12700">
            <a:solidFill>
              <a:srgbClr val="EF4444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821055" y="294970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2차전지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964055" y="294970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평소  22%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2832735" y="2949702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오늘  39%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564255" y="2931414"/>
            <a:ext cx="621792" cy="347472"/>
          </a:xfrm>
          <a:prstGeom prst="roundRect">
            <a:avLst>
              <a:gd fmla="val 50000" name="adj"/>
            </a:avLst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3609975" y="2931414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▲ 급등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83895" y="3534918"/>
            <a:ext cx="3886200" cy="530352"/>
          </a:xfrm>
          <a:prstGeom prst="roundRect">
            <a:avLst>
              <a:gd fmla="val 10345" name="adj"/>
            </a:avLst>
          </a:prstGeom>
          <a:solidFill>
            <a:srgbClr val="334155">
              <a:alpha val="10196"/>
            </a:srgbClr>
          </a:solidFill>
          <a:ln cap="flat" cmpd="sng" w="12700">
            <a:solidFill>
              <a:srgbClr val="CA3D4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821055" y="364464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3D4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A3D42"/>
                </a:solidFill>
                <a:latin typeface="Calibri"/>
                <a:ea typeface="Calibri"/>
                <a:cs typeface="Calibri"/>
                <a:sym typeface="Calibri"/>
              </a:rPr>
              <a:t>바이오</a:t>
            </a:r>
            <a:endParaRPr sz="1300">
              <a:solidFill>
                <a:srgbClr val="CA3D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964055" y="364464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평소  15%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832735" y="364464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3D4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3D42"/>
                </a:solidFill>
                <a:latin typeface="Calibri"/>
                <a:ea typeface="Calibri"/>
                <a:cs typeface="Calibri"/>
                <a:sym typeface="Calibri"/>
              </a:rPr>
              <a:t>오늘  17%</a:t>
            </a:r>
            <a:endParaRPr sz="1200">
              <a:solidFill>
                <a:srgbClr val="CA3D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683895" y="4229862"/>
            <a:ext cx="3886200" cy="530352"/>
          </a:xfrm>
          <a:prstGeom prst="roundRect">
            <a:avLst>
              <a:gd fmla="val 10345" name="adj"/>
            </a:avLst>
          </a:prstGeom>
          <a:solidFill>
            <a:srgbClr val="334155">
              <a:alpha val="10196"/>
            </a:srgbClr>
          </a:solidFill>
          <a:ln cap="flat" cmpd="sng" w="12700">
            <a:solidFill>
              <a:srgbClr val="2CB91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821055" y="433959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B91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CB911"/>
                </a:solidFill>
                <a:latin typeface="Calibri"/>
                <a:ea typeface="Calibri"/>
                <a:cs typeface="Calibri"/>
                <a:sym typeface="Calibri"/>
              </a:rPr>
              <a:t>금융</a:t>
            </a:r>
            <a:endParaRPr sz="1300">
              <a:solidFill>
                <a:srgbClr val="2CB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1964055" y="433959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평소  19%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2832735" y="433959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B9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B911"/>
                </a:solidFill>
                <a:latin typeface="Calibri"/>
                <a:ea typeface="Calibri"/>
                <a:cs typeface="Calibri"/>
                <a:sym typeface="Calibri"/>
              </a:rPr>
              <a:t>오늘  21%</a:t>
            </a:r>
            <a:endParaRPr sz="1200">
              <a:solidFill>
                <a:srgbClr val="2CB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917567" y="1550670"/>
            <a:ext cx="3966662" cy="3380689"/>
          </a:xfrm>
          <a:prstGeom prst="rect">
            <a:avLst/>
          </a:prstGeom>
          <a:solidFill>
            <a:srgbClr val="0D1F35">
              <a:alpha val="80000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014655" y="1893960"/>
            <a:ext cx="3749040" cy="9144"/>
          </a:xfrm>
          <a:prstGeom prst="rect">
            <a:avLst/>
          </a:prstGeom>
          <a:solidFill>
            <a:srgbClr val="F59E0B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045827" y="2186953"/>
            <a:ext cx="347472" cy="347472"/>
          </a:xfrm>
          <a:prstGeom prst="ellipse">
            <a:avLst/>
          </a:prstGeom>
          <a:solidFill>
            <a:srgbClr val="F59E0B">
              <a:alpha val="25098"/>
            </a:srgbClr>
          </a:solidFill>
          <a:ln cap="flat" cmpd="sng" w="9525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5175360" y="1930536"/>
            <a:ext cx="3328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045826" y="3221511"/>
            <a:ext cx="347472" cy="347472"/>
          </a:xfrm>
          <a:prstGeom prst="ellipse">
            <a:avLst/>
          </a:prstGeom>
          <a:solidFill>
            <a:srgbClr val="F59E0B">
              <a:alpha val="25098"/>
            </a:srgbClr>
          </a:solidFill>
          <a:ln cap="flat" cmpd="sng" w="9525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5476698" y="1895699"/>
            <a:ext cx="3328560" cy="834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색상으로 분위기 직관화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긍정(녹색) / 부정(빨간색)으로 뉴스 분위기를 즉시 파악</a:t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5487089" y="2815963"/>
            <a:ext cx="3328560" cy="1144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평소 대비 이상 급등 포착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평소 비율과 오늘 비율을 나란히 보여줘 이상 급증 여부를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즉시 확인 가능</a:t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074920" y="4092702"/>
            <a:ext cx="3657600" cy="274320"/>
          </a:xfrm>
          <a:prstGeom prst="rect">
            <a:avLst/>
          </a:prstGeom>
          <a:solidFill>
            <a:srgbClr val="B67D1F">
              <a:alpha val="14901"/>
            </a:srgbClr>
          </a:solidFill>
          <a:ln cap="flat" cmpd="sng" w="9525">
            <a:solidFill>
              <a:srgbClr val="B67D1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7D1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67D1F"/>
                </a:solidFill>
                <a:latin typeface="Calibri"/>
                <a:ea typeface="Calibri"/>
                <a:cs typeface="Calibri"/>
                <a:sym typeface="Calibri"/>
              </a:rPr>
              <a:t>급등 섹터의 분위기, 숫자보다 색이 먼저 말해줍니다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45098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5303520" y="-457200"/>
            <a:ext cx="5029200" cy="64008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34901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7708392" y="3136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USERS &amp; Expected Effect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주요 사용자 &amp; </a:t>
            </a:r>
            <a:r>
              <a:rPr b="1" lang="en-US" sz="3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02920" y="1437894"/>
            <a:ext cx="1901952" cy="1572768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3B82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1008221" y="1529334"/>
            <a:ext cx="891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‍💼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502920" y="2077974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일반 투자자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502920" y="2443734"/>
            <a:ext cx="19019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빠른 시장 분위기 파악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02920" y="3264408"/>
            <a:ext cx="1901952" cy="1572768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3B82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502920" y="3355848"/>
            <a:ext cx="1901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02920" y="3904488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개인 트레이더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02920" y="4270248"/>
            <a:ext cx="19019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종목·섹터 감성 확인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 rot="5400000">
            <a:off x="888702" y="3150470"/>
            <a:ext cx="3482303" cy="57150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3044951" y="1529334"/>
            <a:ext cx="274320" cy="274320"/>
          </a:xfrm>
          <a:prstGeom prst="ellipse">
            <a:avLst/>
          </a:prstGeom>
          <a:solidFill>
            <a:srgbClr val="3B82F6">
              <a:alpha val="40000"/>
            </a:srgbClr>
          </a:solidFill>
          <a:ln cap="flat" cmpd="sng" w="19050">
            <a:solidFill>
              <a:srgbClr val="3B82F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3429000" y="148361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정형화된 뉴스를 감성지수로 변환하여 </a:t>
            </a:r>
            <a:b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→ 기존 금융 시장에서 차별화된 데이터 확보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3429000" y="2388870"/>
            <a:ext cx="530351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급증하는 섹터를 즉각 탐지하여 시각화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→  빠른 대응이 필요한 전문 투자자 및 트레이더 계층 유입 및 체류 시간 증가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429000" y="331012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방대한 뉴스 데이터 분석과정을 자동화 하여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많은 양의 정보를 적은 비용으로 처리 가능</a:t>
            </a:r>
            <a:endParaRPr sz="1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044951" y="3355848"/>
            <a:ext cx="274320" cy="274320"/>
          </a:xfrm>
          <a:prstGeom prst="ellipse">
            <a:avLst/>
          </a:prstGeom>
          <a:solidFill>
            <a:srgbClr val="EF4444">
              <a:alpha val="40000"/>
            </a:srgbClr>
          </a:solidFill>
          <a:ln cap="flat" cmpd="sng" w="19050">
            <a:solidFill>
              <a:srgbClr val="EF4444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3044951" y="4224528"/>
            <a:ext cx="274320" cy="274320"/>
          </a:xfrm>
          <a:prstGeom prst="ellipse">
            <a:avLst/>
          </a:prstGeom>
          <a:solidFill>
            <a:srgbClr val="0FB8A0">
              <a:alpha val="40000"/>
            </a:srgbClr>
          </a:solidFill>
          <a:ln cap="flat" cmpd="sng" w="19050">
            <a:solidFill>
              <a:srgbClr val="0FB8A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58F8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3044951" y="2434590"/>
            <a:ext cx="274320" cy="274320"/>
          </a:xfrm>
          <a:prstGeom prst="ellipse">
            <a:avLst/>
          </a:prstGeom>
          <a:solidFill>
            <a:srgbClr val="22C55E">
              <a:alpha val="40000"/>
            </a:srgbClr>
          </a:solidFill>
          <a:ln cap="flat" cmpd="sng" w="19050">
            <a:solidFill>
              <a:srgbClr val="22C55E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CB9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3429000" y="41788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실시간 정보 제공을 통한 사용자의 시장 예측에 도움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"/>
          <p:cNvSpPr/>
          <p:nvPr/>
        </p:nvSpPr>
        <p:spPr>
          <a:xfrm>
            <a:off x="4754880" y="-1371600"/>
            <a:ext cx="6400800" cy="77724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5110734" y="-457200"/>
            <a:ext cx="5029200" cy="6400800"/>
          </a:xfrm>
          <a:prstGeom prst="ellipse">
            <a:avLst/>
          </a:prstGeom>
          <a:solidFill>
            <a:srgbClr val="3B82F6">
              <a:alpha val="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8165592" y="850392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502920" y="201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Scalable Business Areas</a:t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502920" y="54864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Finance Pulse의 3단계 수익화 로드맵</a:t>
            </a:r>
            <a:endParaRPr b="1" sz="35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502920" y="1261872"/>
            <a:ext cx="8229600" cy="10973"/>
          </a:xfrm>
          <a:prstGeom prst="rect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8467344" y="3191256"/>
            <a:ext cx="128016" cy="128016"/>
          </a:xfrm>
          <a:prstGeom prst="ellipse">
            <a:avLst/>
          </a:prstGeom>
          <a:solidFill>
            <a:srgbClr val="0FB8A0"/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731520" y="2578608"/>
            <a:ext cx="7680960" cy="36576"/>
          </a:xfrm>
          <a:prstGeom prst="rect">
            <a:avLst/>
          </a:prstGeom>
          <a:solidFill>
            <a:srgbClr val="1E3A5F">
              <a:alpha val="8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409827" y="2370582"/>
            <a:ext cx="402336" cy="402336"/>
          </a:xfrm>
          <a:prstGeom prst="ellipse">
            <a:avLst/>
          </a:prstGeom>
          <a:solidFill>
            <a:srgbClr val="3B82F6">
              <a:alpha val="54901"/>
            </a:srgbClr>
          </a:solidFill>
          <a:ln cap="flat" cmpd="sng" w="25400">
            <a:solidFill>
              <a:srgbClr val="3B82F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1418082" y="237058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365760" y="2889504"/>
            <a:ext cx="2490470" cy="1673352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3B82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02920" y="298094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02920" y="325526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사용자 락인 &amp; MAU 확보</a:t>
            </a:r>
            <a:endParaRPr b="1" sz="16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502920" y="3686861"/>
            <a:ext cx="2194560" cy="0"/>
          </a:xfrm>
          <a:prstGeom prst="rect">
            <a:avLst/>
          </a:prstGeom>
          <a:solidFill>
            <a:srgbClr val="3B82F6">
              <a:alpha val="6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02920" y="3722344"/>
            <a:ext cx="219456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관심 종목 실시간 알림으로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   이탈률 최소화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  낚시성 기사 필터링으로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신뢰 기반 충성 유저 형성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i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"유저가 매일 돌아오는 서비스"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4370832" y="2370582"/>
            <a:ext cx="402336" cy="402336"/>
          </a:xfrm>
          <a:prstGeom prst="ellipse">
            <a:avLst/>
          </a:prstGeom>
          <a:solidFill>
            <a:srgbClr val="0FB8A0">
              <a:alpha val="54901"/>
            </a:srgbClr>
          </a:solidFill>
          <a:ln cap="flat" cmpd="sng" w="25400">
            <a:solidFill>
              <a:srgbClr val="0FB8A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4370832" y="237058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283373" y="2889504"/>
            <a:ext cx="2577253" cy="1673352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0FB8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420533" y="298094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8A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420533" y="3255264"/>
            <a:ext cx="22373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고단가 B2B 계약으로 빠른 수익화</a:t>
            </a:r>
            <a:endParaRPr b="1" sz="16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3420533" y="3675888"/>
            <a:ext cx="2237316" cy="0"/>
          </a:xfrm>
          <a:prstGeom prst="rect">
            <a:avLst/>
          </a:prstGeom>
          <a:solidFill>
            <a:srgbClr val="0FB8A0">
              <a:alpha val="60000"/>
            </a:srgbClr>
          </a:solidFill>
          <a:ln cap="flat" cmpd="sng" w="12700">
            <a:solidFill>
              <a:srgbClr val="0FB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3420533" y="3749040"/>
            <a:ext cx="223731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B8A0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투자 자문사·핀테크 기업 대상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API 라이선스 공급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시장 심리 지수 데이터 </a:t>
            </a:r>
            <a:r>
              <a:rPr b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정기 구독 판매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i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"계약 1건 = 수천만 원 단위 매출"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7182612" y="2370582"/>
            <a:ext cx="402336" cy="402336"/>
          </a:xfrm>
          <a:prstGeom prst="ellipse">
            <a:avLst/>
          </a:prstGeom>
          <a:solidFill>
            <a:srgbClr val="22C55E">
              <a:alpha val="54901"/>
            </a:srgbClr>
          </a:solidFill>
          <a:ln cap="flat" cmpd="sng" w="25400">
            <a:solidFill>
              <a:srgbClr val="22C55E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7182612" y="237058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217920" y="2889504"/>
            <a:ext cx="2331720" cy="1673352"/>
          </a:xfrm>
          <a:prstGeom prst="rect">
            <a:avLst/>
          </a:prstGeom>
          <a:solidFill>
            <a:srgbClr val="0F2040">
              <a:alpha val="85098"/>
            </a:srgbClr>
          </a:solidFill>
          <a:ln cap="flat" cmpd="sng" w="12700">
            <a:solidFill>
              <a:srgbClr val="22C55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355080" y="298094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355080" y="3255264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독점 데이터 자산화</a:t>
            </a:r>
            <a:endParaRPr b="1" sz="18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355080" y="3675888"/>
            <a:ext cx="2057400" cy="10973"/>
          </a:xfrm>
          <a:prstGeom prst="rect">
            <a:avLst/>
          </a:prstGeom>
          <a:solidFill>
            <a:srgbClr val="22C55E">
              <a:alpha val="6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6355080" y="3749040"/>
            <a:ext cx="205740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·  뉴스·SNS·커뮤니티 </a:t>
            </a:r>
            <a:r>
              <a:rPr b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3종 데이터 융합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타사 미보유 데이터셋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리포트 구독 수익</a:t>
            </a: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i="1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"데이터 독점 = 시장 독점"</a:t>
            </a:r>
            <a:endParaRPr sz="11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한컴오피스">
  <a:themeElements>
    <a:clrScheme name="한컴오피스">
      <a:dk1>
        <a:srgbClr val="000000"/>
      </a:dk1>
      <a:lt1>
        <a:srgbClr val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2026-04-13T00:20:40.000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